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5" r:id="rId6"/>
    <p:sldId id="262" r:id="rId7"/>
    <p:sldId id="276" r:id="rId8"/>
    <p:sldId id="263" r:id="rId9"/>
    <p:sldId id="258" r:id="rId10"/>
    <p:sldId id="284" r:id="rId11"/>
    <p:sldId id="286" r:id="rId12"/>
    <p:sldId id="290" r:id="rId13"/>
    <p:sldId id="289" r:id="rId14"/>
    <p:sldId id="28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8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6266DE-CC13-4392-8E11-02F1432CA069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0ADD8BF-40C6-41AE-A740-C341479E3333}">
      <dgm:prSet/>
      <dgm:spPr/>
      <dgm:t>
        <a:bodyPr/>
        <a:lstStyle/>
        <a:p>
          <a:r>
            <a:rPr lang="en-US" dirty="0"/>
            <a:t>How much do momentum and other passive effects influence the forces seen at the joints in linked systems?</a:t>
          </a:r>
        </a:p>
      </dgm:t>
    </dgm:pt>
    <dgm:pt modelId="{08691B3F-7812-446F-85D6-0B2229EF13FC}" type="parTrans" cxnId="{9273CD07-16C9-4BD2-8DEE-91201ABB65DB}">
      <dgm:prSet/>
      <dgm:spPr/>
      <dgm:t>
        <a:bodyPr/>
        <a:lstStyle/>
        <a:p>
          <a:endParaRPr lang="en-US"/>
        </a:p>
      </dgm:t>
    </dgm:pt>
    <dgm:pt modelId="{470A2626-D78E-449F-A9FD-9C6DFAA2619E}" type="sibTrans" cxnId="{9273CD07-16C9-4BD2-8DEE-91201ABB65DB}">
      <dgm:prSet/>
      <dgm:spPr/>
      <dgm:t>
        <a:bodyPr/>
        <a:lstStyle/>
        <a:p>
          <a:endParaRPr lang="en-US"/>
        </a:p>
      </dgm:t>
    </dgm:pt>
    <dgm:pt modelId="{38828AD5-E259-452D-95B2-291AD896A1FF}">
      <dgm:prSet/>
      <dgm:spPr/>
      <dgm:t>
        <a:bodyPr/>
        <a:lstStyle/>
        <a:p>
          <a:r>
            <a:rPr lang="en-US" dirty="0"/>
            <a:t>Can commonly seen patterns in forces be attributed these effects?</a:t>
          </a:r>
        </a:p>
      </dgm:t>
    </dgm:pt>
    <dgm:pt modelId="{5FCFC62D-A958-4966-AA12-C73366B65FFE}" type="parTrans" cxnId="{EA8AB356-8A61-47C7-BB2B-6CBB6A266F37}">
      <dgm:prSet/>
      <dgm:spPr/>
      <dgm:t>
        <a:bodyPr/>
        <a:lstStyle/>
        <a:p>
          <a:endParaRPr lang="en-US"/>
        </a:p>
      </dgm:t>
    </dgm:pt>
    <dgm:pt modelId="{96A3D71E-67F6-4AD3-ABDD-D41E29CCD322}" type="sibTrans" cxnId="{EA8AB356-8A61-47C7-BB2B-6CBB6A266F37}">
      <dgm:prSet/>
      <dgm:spPr/>
      <dgm:t>
        <a:bodyPr/>
        <a:lstStyle/>
        <a:p>
          <a:endParaRPr lang="en-US"/>
        </a:p>
      </dgm:t>
    </dgm:pt>
    <dgm:pt modelId="{C35B9A0E-8702-4B6F-90B2-6AA201A51711}">
      <dgm:prSet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en-US" dirty="0"/>
        </a:p>
      </dgm:t>
    </dgm:pt>
    <dgm:pt modelId="{6492FBFB-9C43-41D3-9A5D-FE6054B3F821}" type="parTrans" cxnId="{012840DE-C0F2-488A-8FAF-59FE21E57F40}">
      <dgm:prSet/>
      <dgm:spPr/>
      <dgm:t>
        <a:bodyPr/>
        <a:lstStyle/>
        <a:p>
          <a:endParaRPr lang="en-US"/>
        </a:p>
      </dgm:t>
    </dgm:pt>
    <dgm:pt modelId="{67526180-FD4D-4332-BF45-3B5D9C3CC392}" type="sibTrans" cxnId="{012840DE-C0F2-488A-8FAF-59FE21E57F40}">
      <dgm:prSet/>
      <dgm:spPr/>
      <dgm:t>
        <a:bodyPr/>
        <a:lstStyle/>
        <a:p>
          <a:endParaRPr lang="en-US"/>
        </a:p>
      </dgm:t>
    </dgm:pt>
    <dgm:pt modelId="{0EAFB89D-7A6E-456A-9DD5-894717C8C836}" type="pres">
      <dgm:prSet presAssocID="{6D6266DE-CC13-4392-8E11-02F1432CA069}" presName="linear" presStyleCnt="0">
        <dgm:presLayoutVars>
          <dgm:animLvl val="lvl"/>
          <dgm:resizeHandles val="exact"/>
        </dgm:presLayoutVars>
      </dgm:prSet>
      <dgm:spPr/>
    </dgm:pt>
    <dgm:pt modelId="{8E1357F5-55EF-4957-A84C-7CD5C84A8A1F}" type="pres">
      <dgm:prSet presAssocID="{60ADD8BF-40C6-41AE-A740-C341479E333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39F53A7-B605-4A94-844A-79801C98794B}" type="pres">
      <dgm:prSet presAssocID="{470A2626-D78E-449F-A9FD-9C6DFAA2619E}" presName="spacer" presStyleCnt="0"/>
      <dgm:spPr/>
    </dgm:pt>
    <dgm:pt modelId="{FA434908-9A95-4004-A3A3-74E457D76283}" type="pres">
      <dgm:prSet presAssocID="{38828AD5-E259-452D-95B2-291AD896A1FF}" presName="parentText" presStyleLbl="node1" presStyleIdx="1" presStyleCnt="2" custLinFactNeighborX="1191" custLinFactNeighborY="40678">
        <dgm:presLayoutVars>
          <dgm:chMax val="0"/>
          <dgm:bulletEnabled val="1"/>
        </dgm:presLayoutVars>
      </dgm:prSet>
      <dgm:spPr/>
    </dgm:pt>
    <dgm:pt modelId="{3D2A9A99-DE0E-4978-BEB4-4440DDF1EB05}" type="pres">
      <dgm:prSet presAssocID="{38828AD5-E259-452D-95B2-291AD896A1FF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9273CD07-16C9-4BD2-8DEE-91201ABB65DB}" srcId="{6D6266DE-CC13-4392-8E11-02F1432CA069}" destId="{60ADD8BF-40C6-41AE-A740-C341479E3333}" srcOrd="0" destOrd="0" parTransId="{08691B3F-7812-446F-85D6-0B2229EF13FC}" sibTransId="{470A2626-D78E-449F-A9FD-9C6DFAA2619E}"/>
    <dgm:cxn modelId="{3843B06D-7C08-47D9-BB3F-87DF7E85E269}" type="presOf" srcId="{6D6266DE-CC13-4392-8E11-02F1432CA069}" destId="{0EAFB89D-7A6E-456A-9DD5-894717C8C836}" srcOrd="0" destOrd="0" presId="urn:microsoft.com/office/officeart/2005/8/layout/vList2"/>
    <dgm:cxn modelId="{EA8AB356-8A61-47C7-BB2B-6CBB6A266F37}" srcId="{6D6266DE-CC13-4392-8E11-02F1432CA069}" destId="{38828AD5-E259-452D-95B2-291AD896A1FF}" srcOrd="1" destOrd="0" parTransId="{5FCFC62D-A958-4966-AA12-C73366B65FFE}" sibTransId="{96A3D71E-67F6-4AD3-ABDD-D41E29CCD322}"/>
    <dgm:cxn modelId="{1C62C9B0-EC85-4C92-900D-CB55E7156628}" type="presOf" srcId="{38828AD5-E259-452D-95B2-291AD896A1FF}" destId="{FA434908-9A95-4004-A3A3-74E457D76283}" srcOrd="0" destOrd="0" presId="urn:microsoft.com/office/officeart/2005/8/layout/vList2"/>
    <dgm:cxn modelId="{757A64BD-345B-41FC-98B0-9111CE7F0AD2}" type="presOf" srcId="{C35B9A0E-8702-4B6F-90B2-6AA201A51711}" destId="{3D2A9A99-DE0E-4978-BEB4-4440DDF1EB05}" srcOrd="0" destOrd="0" presId="urn:microsoft.com/office/officeart/2005/8/layout/vList2"/>
    <dgm:cxn modelId="{C95A6ED8-E018-4184-9D2E-9B8FF5F11AFB}" type="presOf" srcId="{60ADD8BF-40C6-41AE-A740-C341479E3333}" destId="{8E1357F5-55EF-4957-A84C-7CD5C84A8A1F}" srcOrd="0" destOrd="0" presId="urn:microsoft.com/office/officeart/2005/8/layout/vList2"/>
    <dgm:cxn modelId="{012840DE-C0F2-488A-8FAF-59FE21E57F40}" srcId="{38828AD5-E259-452D-95B2-291AD896A1FF}" destId="{C35B9A0E-8702-4B6F-90B2-6AA201A51711}" srcOrd="0" destOrd="0" parTransId="{6492FBFB-9C43-41D3-9A5D-FE6054B3F821}" sibTransId="{67526180-FD4D-4332-BF45-3B5D9C3CC392}"/>
    <dgm:cxn modelId="{EC789029-EA82-4E40-BA03-E1E0F2698450}" type="presParOf" srcId="{0EAFB89D-7A6E-456A-9DD5-894717C8C836}" destId="{8E1357F5-55EF-4957-A84C-7CD5C84A8A1F}" srcOrd="0" destOrd="0" presId="urn:microsoft.com/office/officeart/2005/8/layout/vList2"/>
    <dgm:cxn modelId="{6324535B-BF57-44A8-BFFC-D219576F5116}" type="presParOf" srcId="{0EAFB89D-7A6E-456A-9DD5-894717C8C836}" destId="{039F53A7-B605-4A94-844A-79801C98794B}" srcOrd="1" destOrd="0" presId="urn:microsoft.com/office/officeart/2005/8/layout/vList2"/>
    <dgm:cxn modelId="{27BBF051-C9C2-40AD-8E11-D3C4796A8F3C}" type="presParOf" srcId="{0EAFB89D-7A6E-456A-9DD5-894717C8C836}" destId="{FA434908-9A95-4004-A3A3-74E457D76283}" srcOrd="2" destOrd="0" presId="urn:microsoft.com/office/officeart/2005/8/layout/vList2"/>
    <dgm:cxn modelId="{5F37BDED-EFD3-41AF-B1BE-585797133613}" type="presParOf" srcId="{0EAFB89D-7A6E-456A-9DD5-894717C8C836}" destId="{3D2A9A99-DE0E-4978-BEB4-4440DDF1EB05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1357F5-55EF-4957-A84C-7CD5C84A8A1F}">
      <dsp:nvSpPr>
        <dsp:cNvPr id="0" name=""/>
        <dsp:cNvSpPr/>
      </dsp:nvSpPr>
      <dsp:spPr>
        <a:xfrm>
          <a:off x="0" y="37613"/>
          <a:ext cx="6245265" cy="242657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How much do momentum and other passive effects influence the forces seen at the joints in linked systems?</a:t>
          </a:r>
        </a:p>
      </dsp:txBody>
      <dsp:txXfrm>
        <a:off x="118456" y="156069"/>
        <a:ext cx="6008353" cy="2189667"/>
      </dsp:txXfrm>
    </dsp:sp>
    <dsp:sp modelId="{FA434908-9A95-4004-A3A3-74E457D76283}">
      <dsp:nvSpPr>
        <dsp:cNvPr id="0" name=""/>
        <dsp:cNvSpPr/>
      </dsp:nvSpPr>
      <dsp:spPr>
        <a:xfrm>
          <a:off x="0" y="2791146"/>
          <a:ext cx="6245265" cy="2426579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Can commonly seen patterns in forces be attributed these effects?</a:t>
          </a:r>
        </a:p>
      </dsp:txBody>
      <dsp:txXfrm>
        <a:off x="118456" y="2909602"/>
        <a:ext cx="6008353" cy="2189667"/>
      </dsp:txXfrm>
    </dsp:sp>
    <dsp:sp modelId="{3D2A9A99-DE0E-4978-BEB4-4440DDF1EB05}">
      <dsp:nvSpPr>
        <dsp:cNvPr id="0" name=""/>
        <dsp:cNvSpPr/>
      </dsp:nvSpPr>
      <dsp:spPr>
        <a:xfrm>
          <a:off x="0" y="4988693"/>
          <a:ext cx="6245265" cy="563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287" tIns="43180" rIns="241808" bIns="4318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n-US" sz="2700" kern="1200" dirty="0"/>
        </a:p>
      </dsp:txBody>
      <dsp:txXfrm>
        <a:off x="0" y="4988693"/>
        <a:ext cx="6245265" cy="5630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DBD2C-E725-8C37-043D-4A0FD8CAF3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3450BB-BEB2-B112-DB1C-C05E3A3349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13F617-8A0A-64FA-C366-891FFFDC6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66B27-9110-4973-BEBA-D3091CD3C8EB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030A0-F31C-FC56-22E9-0593620E8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65BE8-7315-B4AD-597E-10A92A8F4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68D93-C9B2-4B6A-A0D0-2A5DED38E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004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7B30-1ABA-4799-35EF-6516C049A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BCAF0-3DA1-1E2F-8AE9-6E6C5823C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BA057-D592-76E2-9EC1-CBD22DE95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66B27-9110-4973-BEBA-D3091CD3C8EB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71B2B-B8D7-5D51-59B2-52DA712F8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13F4D-66A4-7FC6-28CD-74900C8E6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68D93-C9B2-4B6A-A0D0-2A5DED38E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801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684CF-8837-567A-BCF4-BF6D4D3AB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F38B0D-932D-FA0B-582B-3D7B3D00C4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0A78A-A710-37C4-4B1C-5AABBF6EB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66B27-9110-4973-BEBA-D3091CD3C8EB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A6624-CB9F-B23F-CD75-F4B40C16E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B2E03-DF41-521A-B1B3-FCDAEB7CE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68D93-C9B2-4B6A-A0D0-2A5DED38E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352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57295-E423-C57A-3B75-C122FE1D4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56A7A-1A71-AC0A-6C4E-44306CC851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DF32D3-C249-CB3B-97C3-5B8F5D85EF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AFF3AC-BB8A-3E44-436B-65A729AA5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66B27-9110-4973-BEBA-D3091CD3C8EB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B29EE-5CA4-90F2-43B2-6F62B22EA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7731F5-6039-9D9F-0EF6-907115743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68D93-C9B2-4B6A-A0D0-2A5DED38E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295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3998B-9C3A-7C48-C14D-68C342E48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C5E44D-50CB-177D-58E1-9CB10A7D7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CF71F3-2107-50DC-0E94-003A251437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B2A083-9BC7-2DEF-A6B3-A9515596E3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FEB9F4-933F-CBDA-FF57-877E860883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4FB13D-DB0E-602C-B17A-802320885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66B27-9110-4973-BEBA-D3091CD3C8EB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F322BB-C707-04BF-90A3-4BDA50840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1BDA21-5D6C-8E2D-F1C9-98EE40217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68D93-C9B2-4B6A-A0D0-2A5DED38E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6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203D2-D3D5-01EB-A622-100020A0C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7CC0C8-4822-C66B-4666-EEC9A8827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66B27-9110-4973-BEBA-D3091CD3C8EB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09E5B2-3FD4-7CB7-17E1-2480272E9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E105F6-7314-3216-95A0-2E10E1C09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68D93-C9B2-4B6A-A0D0-2A5DED38E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680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EED7C8-4C83-2160-A4B9-D61DF0588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66B27-9110-4973-BEBA-D3091CD3C8EB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635E2-96D7-8AD0-F172-E9EB7C042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8176A-F51D-C0EF-43C2-B03FC2F32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68D93-C9B2-4B6A-A0D0-2A5DED38E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399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53299-C5CC-231C-17A2-B9B80D193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7628D-1AD9-77CA-95D1-8D1C1954D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A0DFDD-6B7F-FEC7-5F86-112C9C269D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B0E2C5-BD70-C95A-4CFA-7FF78A11A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66B27-9110-4973-BEBA-D3091CD3C8EB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AC8C1-D03C-CD6E-6D07-721E1D749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DF033-73D6-0823-A0D8-B3C0E0D43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68D93-C9B2-4B6A-A0D0-2A5DED38E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52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508B3-7847-0DB4-E9AA-68F445301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038817-14C6-83E7-A765-8EF84F63ED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6FA4B4-E598-FB91-E25B-8A46ED4405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053C51-AF28-89B7-71A4-3FA9FCDCA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66B27-9110-4973-BEBA-D3091CD3C8EB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A97CEF-90D0-F852-08D4-2717CD3C2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EFD63F-664F-0A5E-D779-230E4C528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68D93-C9B2-4B6A-A0D0-2A5DED38E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587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BAEB3-39AD-60C7-D915-1E70A4D04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266B17-2971-BC9F-ED1C-6DCF4F5AF1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33088-3B21-C108-6191-DF36EDFCF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66B27-9110-4973-BEBA-D3091CD3C8EB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E993C-BED5-B77A-3701-55C29E5A0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98AE3-EA37-3AE5-EED4-A8ED6CC4E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68D93-C9B2-4B6A-A0D0-2A5DED38E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802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B1114F-20AE-FF68-1B02-2E7587F487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583DDE-9DD9-C26A-9F55-D59A0419CC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773720-4C7C-C9B1-F45D-0CEAC7879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66B27-9110-4973-BEBA-D3091CD3C8EB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13B72-E16E-8F09-EA9A-729ED5D3C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3C50E-3E12-C14A-8FEF-890DEAC59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68D93-C9B2-4B6A-A0D0-2A5DED38E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127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C07370-8B48-92D9-8C39-973DAD6E2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84CFDD-3508-D03A-F4A5-14B55F97F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365AC-89DA-0522-1CC1-E4426EEF3F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466B27-9110-4973-BEBA-D3091CD3C8EB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1DE03-79DF-7D38-2758-11B5541868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42D06-6436-8FB5-724D-A493AB983E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C68D93-C9B2-4B6A-A0D0-2A5DED38E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295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png"/><Relationship Id="rId4" Type="http://schemas.openxmlformats.org/officeDocument/2006/relationships/hyperlink" Target="https://www.mathworks.com/matlabcentral/fileexchange/169071-two-hand-golf-swing-model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cartoon of a person holding a golf club&#10;&#10;Description automatically generated">
            <a:extLst>
              <a:ext uri="{FF2B5EF4-FFF2-40B4-BE49-F238E27FC236}">
                <a16:creationId xmlns:a16="http://schemas.microsoft.com/office/drawing/2014/main" id="{0104244C-F1D6-2C5F-83F2-BAF3949509A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49" r="9090" b="19809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70" name="Rectangle 69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C90AA3-075F-25C9-1220-054B385EB2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100" b="1" i="0" u="none" strike="noStrike" baseline="0">
                <a:solidFill>
                  <a:schemeClr val="bg1"/>
                </a:solidFill>
              </a:rPr>
              <a:t>Evaluation of the Effect of Momentum on Interaction Forces in a Linked System</a:t>
            </a:r>
            <a:endParaRPr lang="en-US" sz="410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2EFFE5-965B-8CDD-C8C7-37CD79D297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endParaRPr lang="en-US" sz="1300">
              <a:solidFill>
                <a:schemeClr val="bg1"/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300">
              <a:solidFill>
                <a:schemeClr val="bg1"/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bg1"/>
                </a:solidFill>
              </a:rPr>
              <a:t>Dieter Olson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bg1"/>
                </a:solidFill>
              </a:rPr>
              <a:t>WSCG / ISEA 2024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5665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12253CA-EE50-7A11-F278-6FE175579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6800" dirty="0"/>
              <a:t> Questions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CE8599FC-B5E9-6A69-3B7D-21FA63E986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3257499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45046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8FC9BE17-9A7B-462D-AE50-3D8777387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CFDD48-B22D-D60B-EE3E-0F90206120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9089" b="28077"/>
          <a:stretch/>
        </p:blipFill>
        <p:spPr>
          <a:xfrm>
            <a:off x="3729228" y="10"/>
            <a:ext cx="8668512" cy="685799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3EBE8569-6AEC-4B8C-8D53-2DE337CD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A06632-B81B-BE77-F4E3-E2427AEAD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084" y="190546"/>
            <a:ext cx="5378196" cy="652988"/>
          </a:xfrm>
        </p:spPr>
        <p:txBody>
          <a:bodyPr anchor="b">
            <a:normAutofit fontScale="90000"/>
          </a:bodyPr>
          <a:lstStyle/>
          <a:p>
            <a:r>
              <a:rPr lang="en-US" sz="2800" dirty="0"/>
              <a:t>Newton’s First Law and Linked Systems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rgbClr val="D5D5D5"/>
          </a:solidFill>
          <a:ln w="3175">
            <a:solidFill>
              <a:srgbClr val="D5D5D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43F6F-AD30-26CF-3E2C-AB05A9FBA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084" y="1486034"/>
            <a:ext cx="5030712" cy="5181420"/>
          </a:xfrm>
        </p:spPr>
        <p:txBody>
          <a:bodyPr anchor="t">
            <a:normAutofit lnSpcReduction="10000"/>
          </a:bodyPr>
          <a:lstStyle/>
          <a:p>
            <a:r>
              <a:rPr lang="en-US" sz="2000" dirty="0"/>
              <a:t>Knowing what happens when there are no forces present provides a reference point to solve from. In a linked system can this ever really be the case?</a:t>
            </a:r>
          </a:p>
          <a:p>
            <a:r>
              <a:rPr lang="en-US" sz="2000" dirty="0"/>
              <a:t>In a “freewheeling” linked system, all segments cannot necessarily continue along the same path with the same velocity as they are constrained.</a:t>
            </a:r>
          </a:p>
          <a:p>
            <a:r>
              <a:rPr lang="en-US" sz="2000" dirty="0"/>
              <a:t>Applying torques at the joints can create forces that act on segments in the system, but so can:</a:t>
            </a:r>
          </a:p>
          <a:p>
            <a:pPr lvl="1"/>
            <a:r>
              <a:rPr lang="en-US" sz="2000" dirty="0"/>
              <a:t>Momentum of Linked Segments</a:t>
            </a:r>
          </a:p>
          <a:p>
            <a:pPr lvl="1"/>
            <a:r>
              <a:rPr lang="en-US" sz="2000" dirty="0"/>
              <a:t>Gravity</a:t>
            </a:r>
          </a:p>
          <a:p>
            <a:pPr lvl="1"/>
            <a:r>
              <a:rPr lang="en-US" sz="2000" dirty="0"/>
              <a:t>Shaft Flex</a:t>
            </a:r>
          </a:p>
          <a:p>
            <a:r>
              <a:rPr lang="en-US" sz="2000" dirty="0"/>
              <a:t>Even with zero joint torques, the interaction forces do not go to zero </a:t>
            </a:r>
          </a:p>
          <a:p>
            <a:r>
              <a:rPr lang="en-US" sz="2000" dirty="0"/>
              <a:t>Zero Joint Torques ≠ Zero Interaction Forces</a:t>
            </a:r>
          </a:p>
          <a:p>
            <a:pPr lvl="1"/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233257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0469C4-B6B4-8513-DB32-FCE26E6B7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400" dirty="0">
                <a:solidFill>
                  <a:srgbClr val="FFFFFF"/>
                </a:solidFill>
              </a:rPr>
              <a:t>Sources of Interaction Forces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376AC-7862-4338-EFC1-6E82F809A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361" y="645836"/>
            <a:ext cx="4928700" cy="5546047"/>
          </a:xfrm>
        </p:spPr>
        <p:txBody>
          <a:bodyPr numCol="1" anchor="ctr">
            <a:normAutofit/>
          </a:bodyPr>
          <a:lstStyle/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Active</a:t>
            </a:r>
          </a:p>
          <a:p>
            <a:pPr lvl="1"/>
            <a:r>
              <a:rPr lang="en-US" sz="2000" b="1" dirty="0"/>
              <a:t>Joint Torques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Passive</a:t>
            </a:r>
          </a:p>
          <a:p>
            <a:pPr lvl="1"/>
            <a:r>
              <a:rPr lang="en-US" sz="2000" b="1" dirty="0"/>
              <a:t>Momentum</a:t>
            </a:r>
            <a:endParaRPr lang="en-US" sz="2000" dirty="0"/>
          </a:p>
          <a:p>
            <a:pPr lvl="1"/>
            <a:r>
              <a:rPr lang="en-US" sz="2000" b="1" dirty="0"/>
              <a:t>Gravity</a:t>
            </a:r>
            <a:endParaRPr lang="en-US" sz="2000" dirty="0"/>
          </a:p>
          <a:p>
            <a:pPr lvl="1"/>
            <a:r>
              <a:rPr lang="en-US" sz="2000" b="1" dirty="0"/>
              <a:t>Shaft Flex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Total Effect = Active Effect + Passive Effect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Passive Effect = Total Effect – Active Effect</a:t>
            </a:r>
            <a:endParaRPr lang="en-US" sz="2000" dirty="0"/>
          </a:p>
          <a:p>
            <a:endParaRPr lang="en-US" sz="2000" b="1"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A8E409CC-102E-76A0-68CC-648AF9B8974F}"/>
              </a:ext>
            </a:extLst>
          </p:cNvPr>
          <p:cNvSpPr/>
          <p:nvPr/>
        </p:nvSpPr>
        <p:spPr>
          <a:xfrm>
            <a:off x="7079994" y="4356016"/>
            <a:ext cx="688927" cy="8870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238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23623D-5AA7-D85C-9F36-A4543BC49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700" dirty="0">
                <a:solidFill>
                  <a:srgbClr val="FFFFFF"/>
                </a:solidFill>
              </a:rPr>
              <a:t>Computing the “Zero Torque Counterfactual”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B0B61-C01F-88C9-C196-41E772A46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3931573"/>
          </a:xfrm>
        </p:spPr>
        <p:txBody>
          <a:bodyPr anchor="ctr">
            <a:normAutofit/>
          </a:bodyPr>
          <a:lstStyle/>
          <a:p>
            <a:r>
              <a:rPr lang="en-US" sz="2000" dirty="0"/>
              <a:t>The combined passive effects were termed the “Zero Torque Counterfactual” based on how they were computed.</a:t>
            </a:r>
          </a:p>
          <a:p>
            <a:r>
              <a:rPr lang="en-US" sz="2000" dirty="0"/>
              <a:t>Represents the forces at the joints that would occur if all joint torque inputs were turned off.</a:t>
            </a:r>
          </a:p>
          <a:p>
            <a:r>
              <a:rPr lang="en-US" sz="2000" dirty="0"/>
              <a:t>Procedure:</a:t>
            </a:r>
          </a:p>
          <a:p>
            <a:pPr lvl="1"/>
            <a:r>
              <a:rPr lang="en-US" sz="2000" dirty="0"/>
              <a:t>Implement “kill switches” in model to turn the applied joint torques to zero</a:t>
            </a:r>
          </a:p>
          <a:p>
            <a:pPr lvl="1"/>
            <a:r>
              <a:rPr lang="en-US" sz="2000" dirty="0"/>
              <a:t>Repeat for multiple runs at varying kill switch times</a:t>
            </a:r>
          </a:p>
          <a:p>
            <a:pPr lvl="1"/>
            <a:r>
              <a:rPr lang="en-US" sz="2000" dirty="0"/>
              <a:t>Compile data at the times in which the step changes are made</a:t>
            </a:r>
          </a:p>
        </p:txBody>
      </p:sp>
    </p:spTree>
    <p:extLst>
      <p:ext uri="{BB962C8B-B14F-4D97-AF65-F5344CB8AC3E}">
        <p14:creationId xmlns:p14="http://schemas.microsoft.com/office/powerpoint/2010/main" val="1093427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69D86C-3414-A7E5-13BF-A27CB7570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Forward Dynamics Model Construction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F54B5-BA51-6CE7-EDED-73F510C49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1"/>
            <a:ext cx="7276898" cy="1369819"/>
          </a:xfrm>
        </p:spPr>
        <p:txBody>
          <a:bodyPr anchor="ctr">
            <a:normAutofit fontScale="70000" lnSpcReduction="20000"/>
          </a:bodyPr>
          <a:lstStyle/>
          <a:p>
            <a:r>
              <a:rPr lang="en-US" sz="2000" dirty="0"/>
              <a:t>Two-hand planar model with flexible beam shaft</a:t>
            </a:r>
          </a:p>
          <a:p>
            <a:r>
              <a:rPr lang="en-US" sz="2000" dirty="0"/>
              <a:t>Joint torque driven model</a:t>
            </a:r>
          </a:p>
          <a:p>
            <a:r>
              <a:rPr lang="en-US" sz="2000" dirty="0"/>
              <a:t>Kinematics roughly matched to kinematic sequence</a:t>
            </a:r>
          </a:p>
          <a:p>
            <a:r>
              <a:rPr lang="en-US" sz="2000" dirty="0" err="1"/>
              <a:t>Matlab</a:t>
            </a:r>
            <a:r>
              <a:rPr lang="en-US" sz="2000" dirty="0"/>
              <a:t> Simulink Model: “Two Hand Golf Swing Model” </a:t>
            </a:r>
            <a:r>
              <a:rPr lang="en-US" sz="2000" dirty="0">
                <a:hlinkClick r:id="rId4"/>
              </a:rPr>
              <a:t>https://www.mathworks.com/matlabcentral/fileexchange/169071-two-hand-golf-swing-model</a:t>
            </a:r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4" name="GolfSwingVideoGreenBackground2">
            <a:hlinkClick r:id="" action="ppaction://media"/>
            <a:extLst>
              <a:ext uri="{FF2B5EF4-FFF2-40B4-BE49-F238E27FC236}">
                <a16:creationId xmlns:a16="http://schemas.microsoft.com/office/drawing/2014/main" id="{0343A53C-D7A9-A2E7-C2FB-1E731D5423F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5"/>
          <a:srcRect l="3495" t="10840" r="7380" b="-684"/>
          <a:stretch/>
        </p:blipFill>
        <p:spPr>
          <a:xfrm>
            <a:off x="4755368" y="2091690"/>
            <a:ext cx="6797600" cy="4693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294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1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blue and purple spiral&#10;&#10;Description automatically generated">
            <a:extLst>
              <a:ext uri="{FF2B5EF4-FFF2-40B4-BE49-F238E27FC236}">
                <a16:creationId xmlns:a16="http://schemas.microsoft.com/office/drawing/2014/main" id="{7700543D-9600-4D20-9DA2-9E348B1B42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39" t="2984" r="8000" b="4038"/>
          <a:stretch/>
        </p:blipFill>
        <p:spPr>
          <a:xfrm>
            <a:off x="138109" y="162185"/>
            <a:ext cx="11915015" cy="6533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620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diagram of a normal distribution&#10;&#10;Description automatically generated">
            <a:extLst>
              <a:ext uri="{FF2B5EF4-FFF2-40B4-BE49-F238E27FC236}">
                <a16:creationId xmlns:a16="http://schemas.microsoft.com/office/drawing/2014/main" id="{18935884-87A3-5DBA-DB14-58B555E443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82" r="7006" b="3802"/>
          <a:stretch/>
        </p:blipFill>
        <p:spPr>
          <a:xfrm>
            <a:off x="353389" y="120551"/>
            <a:ext cx="11587599" cy="6656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702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diagram of a spiraling object&#10;&#10;Description automatically generated with medium confidence">
            <a:extLst>
              <a:ext uri="{FF2B5EF4-FFF2-40B4-BE49-F238E27FC236}">
                <a16:creationId xmlns:a16="http://schemas.microsoft.com/office/drawing/2014/main" id="{C63E745A-14E6-563F-DAD2-C95CFABAA4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04" t="1966" r="7585" b="3611"/>
          <a:stretch/>
        </p:blipFill>
        <p:spPr>
          <a:xfrm>
            <a:off x="370270" y="181018"/>
            <a:ext cx="11451459" cy="6495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508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61606DF0-66D6-FA2D-AEF9-E2E169CE6E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3" r="5879"/>
          <a:stretch/>
        </p:blipFill>
        <p:spPr>
          <a:xfrm>
            <a:off x="199618" y="239358"/>
            <a:ext cx="11792764" cy="6379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897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9F8F7-8B0F-2313-0DAE-D70E5AE3D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7DD53-577D-D75E-EF8D-28A854378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dirty="0"/>
              <a:t>Momentum and other passive components contribute to forces seen between joints and equivalent couple applied to club in a two-hand model.</a:t>
            </a:r>
          </a:p>
          <a:p>
            <a:r>
              <a:rPr lang="en-US" sz="2000" dirty="0"/>
              <a:t>Net force on the club is similar to net force contribution from passive interactions.</a:t>
            </a:r>
          </a:p>
          <a:p>
            <a:r>
              <a:rPr lang="en-US" sz="2000" dirty="0"/>
              <a:t>Equivalent couple reversal near impact can plausibly arise from interaction forces due to momentum in the system.</a:t>
            </a:r>
          </a:p>
        </p:txBody>
      </p:sp>
    </p:spTree>
    <p:extLst>
      <p:ext uri="{BB962C8B-B14F-4D97-AF65-F5344CB8AC3E}">
        <p14:creationId xmlns:p14="http://schemas.microsoft.com/office/powerpoint/2010/main" val="3557697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2c513f5-c1f2-4744-b7be-a137f4e4848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47EDBDBF362B469D136A3F5EBC4DE3" ma:contentTypeVersion="10" ma:contentTypeDescription="Create a new document." ma:contentTypeScope="" ma:versionID="7b0af75b6ef0c5d0fa75b6f9a5210e13">
  <xsd:schema xmlns:xsd="http://www.w3.org/2001/XMLSchema" xmlns:xs="http://www.w3.org/2001/XMLSchema" xmlns:p="http://schemas.microsoft.com/office/2006/metadata/properties" xmlns:ns3="e2c513f5-c1f2-4744-b7be-a137f4e48481" targetNamespace="http://schemas.microsoft.com/office/2006/metadata/properties" ma:root="true" ma:fieldsID="b43ba9eda26affa8019e8ec3a60c3d30" ns3:_="">
    <xsd:import namespace="e2c513f5-c1f2-4744-b7be-a137f4e4848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c513f5-c1f2-4744-b7be-a137f4e4848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4B7EC1D-962A-409F-B73B-FBA4C990404C}">
  <ds:schemaRefs>
    <ds:schemaRef ds:uri="http://schemas.microsoft.com/office/2006/metadata/properties"/>
    <ds:schemaRef ds:uri="http://www.w3.org/2000/xmlns/"/>
    <ds:schemaRef ds:uri="e2c513f5-c1f2-4744-b7be-a137f4e48481"/>
    <ds:schemaRef ds:uri="http://www.w3.org/2001/XMLSchema-instance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1FA4645-88BF-414C-B276-016D5EE84E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D332433-BFB8-45B7-9E4B-E4D0D3D7FD6D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e2c513f5-c1f2-4744-b7be-a137f4e48481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10562</TotalTime>
  <Words>371</Words>
  <Application>Microsoft Office PowerPoint</Application>
  <PresentationFormat>Widescreen</PresentationFormat>
  <Paragraphs>48</Paragraphs>
  <Slides>11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Evaluation of the Effect of Momentum on Interaction Forces in a Linked System</vt:lpstr>
      <vt:lpstr> Questions</vt:lpstr>
      <vt:lpstr>Newton’s First Law and Linked Systems</vt:lpstr>
      <vt:lpstr>Sources of Interaction Forces</vt:lpstr>
      <vt:lpstr>Computing the “Zero Torque Counterfactual”</vt:lpstr>
      <vt:lpstr>Forward Dynamics Model Construction</vt:lpstr>
      <vt:lpstr>PowerPoint Presentation</vt:lpstr>
      <vt:lpstr>PowerPoint Presentation</vt:lpstr>
      <vt:lpstr>PowerPoint Presentation</vt:lpstr>
      <vt:lpstr>PowerPoint Presentation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Evaluation of the Effect of Momentum on Interaction Forces in a Linked System</dc:title>
  <dc:creator>Dieter Olson</dc:creator>
  <cp:lastModifiedBy>Dieter Olson</cp:lastModifiedBy>
  <cp:revision>59</cp:revision>
  <dcterms:created xsi:type="dcterms:W3CDTF">2024-01-11T02:22:20Z</dcterms:created>
  <dcterms:modified xsi:type="dcterms:W3CDTF">2024-07-02T03:37:44Z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0x0101009547EDBDBF362B469D136A3F5EBC4DE3</vt:lpwstr>
  </property>
</Properties>
</file>